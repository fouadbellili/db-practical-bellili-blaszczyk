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88" y="4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5F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02C39A">
              <a:alpha val="1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498079" y="2926080"/>
            <a:ext cx="2011680" cy="2011680"/>
          </a:xfrm>
          <a:prstGeom prst="ellipse">
            <a:avLst/>
          </a:prstGeom>
          <a:solidFill>
            <a:srgbClr val="02809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772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FFFFFF"/>
                </a:solidFill>
                <a:latin typeface="Trebuchet MS"/>
              </a:defRPr>
            </a:pPr>
            <a:r>
              <a:t>DIET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 i="1">
                <a:solidFill>
                  <a:srgbClr val="02C39A"/>
                </a:solidFill>
                <a:latin typeface="Calibri"/>
              </a:defRPr>
            </a:pPr>
            <a:r>
              <a:t>Database Practical Assignment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86000"/>
            <a:ext cx="50292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Fouad Bellili  ·  Jakub Blaszczyk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A8D8E0"/>
                </a:solidFill>
                <a:latin typeface="Calibri"/>
              </a:defRPr>
            </a:pPr>
            <a:r>
              <a:t>Universidade de Aveiro  —  Bases de Dados  —  2025/2026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7AB8C4"/>
                </a:solidFill>
                <a:latin typeface="Calibri"/>
              </a:defRPr>
            </a:pPr>
            <a:r>
              <a:t>Submission: June 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015F6A"/>
                </a:solidFill>
                <a:latin typeface="Trebuchet MS"/>
              </a:defRPr>
            </a:pPr>
            <a:r>
              <a:rPr dirty="0"/>
              <a:t>Presentation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20116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457200" cy="14173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-16110940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41732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rPr lang="pl-PL" dirty="0"/>
              <a:t>0</a:t>
            </a:r>
            <a:r>
              <a:rPr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A2E35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What the system does and why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097280"/>
            <a:ext cx="20116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60320" y="1097280"/>
            <a:ext cx="457200" cy="14173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-16110940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141732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23444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A2E35"/>
                </a:solidFill>
                <a:latin typeface="Calibri"/>
              </a:defRPr>
            </a:pPr>
            <a:r>
              <a:t>Requirements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1691640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Functional &amp; non-functional requirements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097280"/>
            <a:ext cx="20116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1097280"/>
            <a:ext cx="457200" cy="14173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-16110940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141732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23444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A2E35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1691640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ERD, Relational schema, normalization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1097280"/>
            <a:ext cx="20116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949440" y="1097280"/>
            <a:ext cx="457200" cy="14173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0" y="-16110940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141732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123444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A2E35"/>
                </a:solidFill>
                <a:latin typeface="Calibri"/>
              </a:defRPr>
            </a:pPr>
            <a:r>
              <a:t>SQL 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1691640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DDL, indexes, constraints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788920"/>
            <a:ext cx="20116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2788920"/>
            <a:ext cx="457200" cy="14173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-16094024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1089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92608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A2E35"/>
                </a:solidFill>
                <a:latin typeface="Calibri"/>
              </a:defRPr>
            </a:pPr>
            <a:r>
              <a:t>Advanced 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383280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Stored procedures, triggers, UDFs, views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2788920"/>
            <a:ext cx="20116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560320" y="2788920"/>
            <a:ext cx="457200" cy="14173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60320" y="-16094024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33472" y="31089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292608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A2E35"/>
                </a:solidFill>
                <a:latin typeface="Calibri"/>
              </a:defRPr>
            </a:pPr>
            <a:r>
              <a:t>C# Application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3383280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Windows Forms GUI &amp; connection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2788920"/>
            <a:ext cx="20116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754880" y="2788920"/>
            <a:ext cx="457200" cy="14173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0" y="-16094024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8032" y="31089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292608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A2E35"/>
                </a:solidFill>
                <a:latin typeface="Calibri"/>
              </a:defRPr>
            </a:pPr>
            <a:r>
              <a:t>Demo Video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3383280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Live demonstration of the system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2788920"/>
            <a:ext cx="20116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949440" y="2788920"/>
            <a:ext cx="457200" cy="14173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49440" y="-16094024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31089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292608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A2E35"/>
                </a:solidFill>
                <a:latin typeface="Calibri"/>
              </a:defRPr>
            </a:pPr>
            <a:r>
              <a:t>Delivery Checklist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3383280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What is submitted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15F6A"/>
                </a:solidFill>
                <a:latin typeface="Trebuchet M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4114800" cy="356616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3840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Trebuchet MS"/>
              </a:defRPr>
            </a:pPr>
            <a:r>
              <a:t>What is the Diet Tracking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3840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A nutritional tracking platform built on SQL Server, backed by a C# Windows Forms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384048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  <a:defRPr sz="1250" b="0">
                <a:solidFill>
                  <a:srgbClr val="FFFFFF"/>
                </a:solidFill>
                <a:latin typeface="Calibri"/>
              </a:defRPr>
            </a:pPr>
            <a:r>
              <a:t>Log daily food intake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50" b="0">
                <a:solidFill>
                  <a:srgbClr val="FFFFFF"/>
                </a:solidFill>
                <a:latin typeface="Calibri"/>
              </a:defRPr>
            </a:pPr>
            <a:r>
              <a:t>Follow personalized diet plans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50" b="0">
                <a:solidFill>
                  <a:srgbClr val="FFFFFF"/>
                </a:solidFill>
                <a:latin typeface="Calibri"/>
              </a:defRPr>
            </a:pPr>
            <a:r>
              <a:t>Track weight progress over time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50" b="0">
                <a:solidFill>
                  <a:srgbClr val="FFFFFF"/>
                </a:solidFill>
                <a:latin typeface="Calibri"/>
              </a:defRPr>
            </a:pPr>
            <a:r>
              <a:t>Subscribe to premium tiers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50" b="0">
                <a:solidFill>
                  <a:srgbClr val="FFFFFF"/>
                </a:solidFill>
                <a:latin typeface="Calibri"/>
              </a:defRPr>
            </a:pPr>
            <a:r>
              <a:t>Make and track payments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914400"/>
            <a:ext cx="19202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54880" y="914400"/>
            <a:ext cx="1920240" cy="20116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23444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015F6A"/>
                </a:solidFill>
                <a:latin typeface="Trebuchet MS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A6572"/>
                </a:solidFill>
                <a:latin typeface="Calibri"/>
              </a:defRPr>
            </a:pPr>
            <a:r>
              <a:t>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914400"/>
            <a:ext cx="19202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03720" y="914400"/>
            <a:ext cx="1920240" cy="20116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123444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015F6A"/>
                </a:solidFill>
                <a:latin typeface="Trebuchet MS"/>
              </a:defRPr>
            </a:pPr>
            <a: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96596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A6572"/>
                </a:solidFill>
                <a:latin typeface="Calibri"/>
              </a:defRPr>
            </a:pPr>
            <a:r>
              <a:t>Stored Procedures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788920"/>
            <a:ext cx="19202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2788920"/>
            <a:ext cx="1920240" cy="20116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31089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015F6A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8404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A6572"/>
                </a:solidFill>
                <a:latin typeface="Calibri"/>
              </a:defRPr>
            </a:pPr>
            <a:r>
              <a:t>UDFs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2788920"/>
            <a:ext cx="19202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03720" y="2788920"/>
            <a:ext cx="1920240" cy="20116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31089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015F6A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8404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A6572"/>
                </a:solidFill>
                <a:latin typeface="Calibri"/>
              </a:defRPr>
            </a:pPr>
            <a:r>
              <a:t>Triggers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15F6A"/>
                </a:solidFill>
                <a:latin typeface="Trebuchet MS"/>
              </a:defRPr>
            </a:pPr>
            <a:r>
              <a:t>Requirements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411480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⚙  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84048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RF01 — User registration &amp; authentication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RF02 — Browse &amp; subscribe to diet plans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RF03 — Log meals in a daily food diary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RF04 — Auto-calculate calories &amp; macros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RF05 — Record weight &amp; track progress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RF06 — Nutritionists manage diet plans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RF07 — Subscription tiers with features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RF08 — Payment recording &amp; linking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RF09 — Automatic subscription updates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RF10 — BMI calculation from profile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868680"/>
            <a:ext cx="411480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896112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🛡  Non-Functional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371600"/>
            <a:ext cx="384048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Database: SQL Server (MSSQL)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Passwords stored in hashed form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One diary per user per day enforced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Nutritional values per 100g, extrapolated by meal quantity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C# Windows Forms GUI (Visual Studio)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1A2E35"/>
                </a:solidFill>
                <a:latin typeface="Calibri"/>
              </a:defRPr>
            </a:pPr>
            <a:r>
              <a:t>Connection strings configurable for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15F6A"/>
                </a:solidFill>
                <a:latin typeface="Trebuchet MS"/>
              </a:defRPr>
            </a:pPr>
            <a:r>
              <a:t>Database Design — Entities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solidFill>
            <a:srgbClr val="E0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 i="1">
                <a:solidFill>
                  <a:srgbClr val="015F6A"/>
                </a:solidFill>
                <a:latin typeface="Calibri"/>
              </a:defRPr>
            </a:pPr>
            <a:r>
              <a:t>Junction tables: plan_schedule_meals  ·  user_diet_plans  ·  log_meals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9728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Registered users with profile &amp; goals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3444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234440"/>
            <a:ext cx="109728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29844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nutritionists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66420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Professionals creating diet plans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109728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29844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foods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6420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Food items with nutritional data per 100g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9456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194560"/>
            <a:ext cx="109728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25856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diet_plans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2432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Plans created by nutritionists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19456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0" y="2194560"/>
            <a:ext cx="109728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0" y="225856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meals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62432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Food + quantity combinations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19456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2194560"/>
            <a:ext cx="109728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25856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plan_schedules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2432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Weekly plan scheduling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5468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154680"/>
            <a:ext cx="109728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21868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daily_logs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58444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User's food diary (one per day)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315468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91840" y="3154680"/>
            <a:ext cx="109728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0" y="321868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progress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58444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Weight records over 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15468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3154680"/>
            <a:ext cx="109728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321868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subscription_plans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58444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Subscription tiers &amp; features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11480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4114800"/>
            <a:ext cx="109728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417880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user_subscriptions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54456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Active user subscriptions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411480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291840" y="4114800"/>
            <a:ext cx="109728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0" y="4178808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4544568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Payments linked to subscriptions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15F6A"/>
                </a:solidFill>
                <a:latin typeface="Trebuchet MS"/>
              </a:defRPr>
            </a:pPr>
            <a:r>
              <a:t>Entity-Relationship Diagram</a:t>
            </a:r>
          </a:p>
        </p:txBody>
      </p:sp>
      <p:pic>
        <p:nvPicPr>
          <p:cNvPr id="3" name="Picture 2" descr="e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5800"/>
            <a:ext cx="804672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1">
                <a:solidFill>
                  <a:srgbClr val="015F6A"/>
                </a:solidFill>
                <a:latin typeface="Calibri"/>
              </a:defRPr>
            </a:pPr>
            <a:r>
              <a:rPr dirty="0"/>
              <a:t>11 entities  ·  3 junction tables  ·  Full referential integrity with cascading foreign keys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15F6A"/>
                </a:solidFill>
                <a:latin typeface="Trebuchet MS"/>
              </a:defRPr>
            </a:pPr>
            <a:r>
              <a:t>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64592" cy="11887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79552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E35"/>
                </a:solidFill>
                <a:latin typeface="Trebuchet MS"/>
              </a:defRPr>
            </a:pPr>
            <a:r>
              <a:t>1NF — First Normal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7955279" cy="685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4A6572"/>
                </a:solidFill>
                <a:latin typeface="Calibri"/>
              </a:defRPr>
            </a:pPr>
            <a:r>
              <a:t>All columns hold atomic values — no repeating groups or arrays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4A6572"/>
                </a:solidFill>
                <a:latin typeface="Calibri"/>
              </a:defRPr>
            </a:pPr>
            <a:r>
              <a:t>Every row uniquely identified by a primary key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4A6572"/>
                </a:solidFill>
                <a:latin typeface="Calibri"/>
              </a:defRPr>
            </a:pPr>
            <a:r>
              <a:t>features in subscription_plans is a descriptive string, not a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164592" cy="11887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59152"/>
            <a:ext cx="79552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E35"/>
                </a:solidFill>
                <a:latin typeface="Trebuchet MS"/>
              </a:defRPr>
            </a:pPr>
            <a:r>
              <a:t>2NF — Second Normal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0048"/>
            <a:ext cx="7955279" cy="685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4A6572"/>
                </a:solidFill>
                <a:latin typeface="Calibri"/>
              </a:defRPr>
            </a:pPr>
            <a:r>
              <a:t>All non-key attributes fully dependent on the entire primary key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4A6572"/>
                </a:solidFill>
                <a:latin typeface="Calibri"/>
              </a:defRPr>
            </a:pPr>
            <a:r>
              <a:t>user_diet_plans: start_date / end_date depend on full composite key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4A6572"/>
                </a:solidFill>
                <a:latin typeface="Calibri"/>
              </a:defRPr>
            </a:pPr>
            <a:r>
              <a:t>Junction tables (log_meals, plan_schedule_meals) have no non-key attrs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657600"/>
            <a:ext cx="164592" cy="1188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2"/>
            <a:ext cx="79552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E35"/>
                </a:solidFill>
                <a:latin typeface="Trebuchet MS"/>
              </a:defRPr>
            </a:pPr>
            <a:r>
              <a:t>3NF — Third Normal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41648"/>
            <a:ext cx="7955279" cy="685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4A6572"/>
                </a:solidFill>
                <a:latin typeface="Calibri"/>
              </a:defRPr>
            </a:pPr>
            <a:r>
              <a:t>No transitive dependencies between non-key attributes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4A6572"/>
                </a:solidFill>
                <a:latin typeface="Calibri"/>
              </a:defRPr>
            </a:pPr>
            <a:r>
              <a:t>Nutritional data centralized in foods — not duplicated in meals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4A6572"/>
                </a:solidFill>
                <a:latin typeface="Calibri"/>
              </a:defRPr>
            </a:pPr>
            <a:r>
              <a:t>User weight auto-synced via trigger from progress — no redundancy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15F6A"/>
                </a:solidFill>
                <a:latin typeface="Trebuchet MS"/>
              </a:defRPr>
            </a:pPr>
            <a:r>
              <a:t>SQL DDL &amp; Indexes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393192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3931920" cy="4114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86968"/>
            <a:ext cx="374903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SQL Scripts Delivered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3657600" cy="621792"/>
          </a:xfrm>
          <a:prstGeom prst="rect">
            <a:avLst/>
          </a:prstGeom>
          <a:solidFill>
            <a:srgbClr val="F4FAFB"/>
          </a:solidFill>
          <a:ln>
            <a:solidFill>
              <a:srgbClr val="E0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35608"/>
            <a:ext cx="3474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15F6A"/>
                </a:solidFill>
                <a:latin typeface="Consolas"/>
              </a:defRPr>
            </a:pPr>
            <a:r>
              <a:t>diet_tracking_system_tables.sql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CREATE TABLE with PKs &amp; FKs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39696"/>
            <a:ext cx="3657600" cy="621792"/>
          </a:xfrm>
          <a:prstGeom prst="rect">
            <a:avLst/>
          </a:prstGeom>
          <a:solidFill>
            <a:srgbClr val="F4FAFB"/>
          </a:solidFill>
          <a:ln>
            <a:solidFill>
              <a:srgbClr val="E0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185416"/>
            <a:ext cx="3474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15F6A"/>
                </a:solidFill>
                <a:latin typeface="Consolas"/>
              </a:defRPr>
            </a:pPr>
            <a:r>
              <a:t>food_tracking_constrainst.sql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59736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ALTER TABLE — CHECK &amp; UNIQUE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9504"/>
            <a:ext cx="3657600" cy="621792"/>
          </a:xfrm>
          <a:prstGeom prst="rect">
            <a:avLst/>
          </a:prstGeom>
          <a:solidFill>
            <a:srgbClr val="F4FAFB"/>
          </a:solidFill>
          <a:ln>
            <a:solidFill>
              <a:srgbClr val="E0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935224"/>
            <a:ext cx="3474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15F6A"/>
                </a:solidFill>
                <a:latin typeface="Consolas"/>
              </a:defRPr>
            </a:pPr>
            <a:r>
              <a:t>diet_tracking_system_indexes.sql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09544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CREATE INDEX for query optimization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39312"/>
            <a:ext cx="3657600" cy="621792"/>
          </a:xfrm>
          <a:prstGeom prst="rect">
            <a:avLst/>
          </a:prstGeom>
          <a:solidFill>
            <a:srgbClr val="F4FAFB"/>
          </a:solidFill>
          <a:ln>
            <a:solidFill>
              <a:srgbClr val="E0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685032"/>
            <a:ext cx="3474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15F6A"/>
                </a:solidFill>
                <a:latin typeface="Consolas"/>
              </a:defRPr>
            </a:pPr>
            <a:r>
              <a:t>diet_tracking_system_insertions.sql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59352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4A6572"/>
                </a:solidFill>
                <a:latin typeface="Calibri"/>
              </a:defRPr>
            </a:pPr>
            <a:r>
              <a:t>Sample DML data insertions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868680"/>
            <a:ext cx="429768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80560" y="868680"/>
            <a:ext cx="4297680" cy="4114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88696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Key Indexes (10 total)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71600"/>
            <a:ext cx="4114800" cy="320040"/>
          </a:xfrm>
          <a:prstGeom prst="rect">
            <a:avLst/>
          </a:prstGeom>
          <a:solidFill>
            <a:srgbClr val="015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1408176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408176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1408176"/>
            <a:ext cx="1371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691640"/>
            <a:ext cx="4114800" cy="411480"/>
          </a:xfrm>
          <a:prstGeom prst="rect">
            <a:avLst/>
          </a:prstGeom>
          <a:solidFill>
            <a:srgbClr val="F4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176479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1A2E35"/>
                </a:solidFill>
                <a:latin typeface="Consolas"/>
              </a:defRPr>
            </a:pPr>
            <a:r>
              <a:t>ux_progress_user_id_date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764792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1A2E35"/>
                </a:solidFill>
                <a:latin typeface="Calibri"/>
              </a:defRPr>
            </a:pPr>
            <a:r>
              <a:t>Unique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17647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A6572"/>
                </a:solidFill>
                <a:latin typeface="Calibri"/>
              </a:defRPr>
            </a:pPr>
            <a:r>
              <a:t>One weight/day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103120"/>
            <a:ext cx="41148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217627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1A2E35"/>
                </a:solidFill>
                <a:latin typeface="Consolas"/>
              </a:defRPr>
            </a:pPr>
            <a:r>
              <a:t>ux_daily_logs_user_id_date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176272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1A2E35"/>
                </a:solidFill>
                <a:latin typeface="Calibri"/>
              </a:defRPr>
            </a:pPr>
            <a:r>
              <a:t>Unique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217627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A6572"/>
                </a:solidFill>
                <a:latin typeface="Calibri"/>
              </a:defRPr>
            </a:pPr>
            <a:r>
              <a:t>One log/day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514600"/>
            <a:ext cx="4114800" cy="411480"/>
          </a:xfrm>
          <a:prstGeom prst="rect">
            <a:avLst/>
          </a:prstGeom>
          <a:solidFill>
            <a:srgbClr val="F4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17720" y="258775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1A2E35"/>
                </a:solidFill>
                <a:latin typeface="Consolas"/>
              </a:defRPr>
            </a:pPr>
            <a:r>
              <a:t>ix_user_subscriptions_...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587752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1A2E35"/>
                </a:solidFill>
                <a:latin typeface="Calibri"/>
              </a:defRPr>
            </a:pPr>
            <a:r>
              <a:t>Composite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25877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A6572"/>
                </a:solidFill>
                <a:latin typeface="Calibri"/>
              </a:defRPr>
            </a:pPr>
            <a:r>
              <a:t>Active sub check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926080"/>
            <a:ext cx="41148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17720" y="299923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1A2E35"/>
                </a:solidFill>
                <a:latin typeface="Consolas"/>
              </a:defRPr>
            </a:pPr>
            <a:r>
              <a:t>ix_payments_subscription_id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2999232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1A2E35"/>
                </a:solidFill>
                <a:latin typeface="Calibri"/>
              </a:defRPr>
            </a:pPr>
            <a:r>
              <a:t>Regular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9992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A6572"/>
                </a:solidFill>
                <a:latin typeface="Calibri"/>
              </a:defRPr>
            </a:pPr>
            <a:r>
              <a:t>Payment verify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337560"/>
            <a:ext cx="4114800" cy="411480"/>
          </a:xfrm>
          <a:prstGeom prst="rect">
            <a:avLst/>
          </a:prstGeom>
          <a:solidFill>
            <a:srgbClr val="F4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17720" y="341071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1A2E35"/>
                </a:solidFill>
                <a:latin typeface="Consolas"/>
              </a:defRPr>
            </a:pPr>
            <a:r>
              <a:t>ix_meals_food_id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410712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1A2E35"/>
                </a:solidFill>
                <a:latin typeface="Calibri"/>
              </a:defRPr>
            </a:pPr>
            <a:r>
              <a:t>Regular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341071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A6572"/>
                </a:solidFill>
                <a:latin typeface="Calibri"/>
              </a:defRPr>
            </a:pPr>
            <a:r>
              <a:t>JOIN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15F6A"/>
                </a:solidFill>
                <a:latin typeface="Trebuchet MS"/>
              </a:defRPr>
            </a:pPr>
            <a:r>
              <a:t>Stored Procedures &amp; Triggers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502920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5029200" cy="4114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Stored Procedures (7)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15F6A"/>
                </a:solidFill>
                <a:latin typeface="Consolas"/>
              </a:defRPr>
            </a:pPr>
            <a:r>
              <a:t>sp_create_daily_log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53312"/>
            <a:ext cx="2606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A6572"/>
                </a:solidFill>
                <a:latin typeface="Calibri"/>
              </a:defRPr>
            </a:pPr>
            <a:r>
              <a:t>Creates daily log with duplicate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00784"/>
            <a:ext cx="4663440" cy="9144"/>
          </a:xfrm>
          <a:prstGeom prst="rect">
            <a:avLst/>
          </a:prstGeom>
          <a:solidFill>
            <a:srgbClr val="E0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15F6A"/>
                </a:solidFill>
                <a:latin typeface="Consolas"/>
              </a:defRPr>
            </a:pPr>
            <a:r>
              <a:t>sp_add_meal_to_log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28800"/>
            <a:ext cx="2606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A6572"/>
                </a:solidFill>
                <a:latin typeface="Calibri"/>
              </a:defRPr>
            </a:pPr>
            <a:r>
              <a:t>Adds a meal to an existing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76272"/>
            <a:ext cx="4663440" cy="9144"/>
          </a:xfrm>
          <a:prstGeom prst="rect">
            <a:avLst/>
          </a:prstGeom>
          <a:solidFill>
            <a:srgbClr val="E0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15F6A"/>
                </a:solidFill>
                <a:latin typeface="Consolas"/>
              </a:defRPr>
            </a:pPr>
            <a:r>
              <a:t>sp_record_progress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304288"/>
            <a:ext cx="2606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A6572"/>
                </a:solidFill>
                <a:latin typeface="Calibri"/>
              </a:defRPr>
            </a:pPr>
            <a:r>
              <a:t>Records user weight on a given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51760"/>
            <a:ext cx="4663440" cy="9144"/>
          </a:xfrm>
          <a:prstGeom prst="rect">
            <a:avLst/>
          </a:prstGeom>
          <a:solidFill>
            <a:srgbClr val="E0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77977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15F6A"/>
                </a:solidFill>
                <a:latin typeface="Consolas"/>
              </a:defRPr>
            </a:pPr>
            <a:r>
              <a:t>sp_assign_diet_plan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779776"/>
            <a:ext cx="2606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A6572"/>
                </a:solidFill>
                <a:latin typeface="Calibri"/>
              </a:defRPr>
            </a:pPr>
            <a:r>
              <a:t>Assigns plan with date overlap check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27248"/>
            <a:ext cx="4663440" cy="9144"/>
          </a:xfrm>
          <a:prstGeom prst="rect">
            <a:avLst/>
          </a:prstGeom>
          <a:solidFill>
            <a:srgbClr val="E0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25526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15F6A"/>
                </a:solidFill>
                <a:latin typeface="Consolas"/>
              </a:defRPr>
            </a:pPr>
            <a:r>
              <a:t>sp_register_payment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255264"/>
            <a:ext cx="2606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A6572"/>
                </a:solidFill>
                <a:latin typeface="Calibri"/>
              </a:defRPr>
            </a:pPr>
            <a:r>
              <a:t>Registers payment for a subscription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02736"/>
            <a:ext cx="4663440" cy="9144"/>
          </a:xfrm>
          <a:prstGeom prst="rect">
            <a:avLst/>
          </a:prstGeom>
          <a:solidFill>
            <a:srgbClr val="E0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30752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15F6A"/>
                </a:solidFill>
                <a:latin typeface="Consolas"/>
              </a:defRPr>
            </a:pPr>
            <a:r>
              <a:t>sp_get_user_daily_summary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730752"/>
            <a:ext cx="2606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A6572"/>
                </a:solidFill>
                <a:latin typeface="Calibri"/>
              </a:defRPr>
            </a:pPr>
            <a:r>
              <a:t>Returns caloric / macro summary for a day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078224"/>
            <a:ext cx="4663440" cy="9144"/>
          </a:xfrm>
          <a:prstGeom prst="rect">
            <a:avLst/>
          </a:prstGeom>
          <a:solidFill>
            <a:srgbClr val="E0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20624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15F6A"/>
                </a:solidFill>
                <a:latin typeface="Consolas"/>
              </a:defRPr>
            </a:pPr>
            <a:r>
              <a:t>sp_update_subscription_statuses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206240"/>
            <a:ext cx="2606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4A6572"/>
                </a:solidFill>
                <a:latin typeface="Calibri"/>
              </a:defRPr>
            </a:pPr>
            <a:r>
              <a:t>Bulk-updates expired / active subscriptions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841248"/>
            <a:ext cx="320040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577840" y="841248"/>
            <a:ext cx="3200400" cy="4114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0" y="868680"/>
            <a:ext cx="3017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Triggers (3)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1353312"/>
            <a:ext cx="2971800" cy="914400"/>
          </a:xfrm>
          <a:prstGeom prst="rect">
            <a:avLst/>
          </a:prstGeom>
          <a:solidFill>
            <a:srgbClr val="F4FAFB"/>
          </a:solidFill>
          <a:ln>
            <a:solidFill>
              <a:srgbClr val="E0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1399032"/>
            <a:ext cx="2834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015F6A"/>
                </a:solidFill>
                <a:latin typeface="Consolas"/>
              </a:defRPr>
            </a:pPr>
            <a:r>
              <a:t>trg_payments_set_subscription_status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1655064"/>
            <a:ext cx="2834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1">
                <a:solidFill>
                  <a:srgbClr val="F5A623"/>
                </a:solidFill>
                <a:latin typeface="Calibri"/>
              </a:defRPr>
            </a:pPr>
            <a:r>
              <a:t>payments — AFTER INSERT/UPDATE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1856232"/>
            <a:ext cx="2834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4A6572"/>
                </a:solidFill>
                <a:latin typeface="Calibri"/>
              </a:defRPr>
            </a:pPr>
            <a:r>
              <a:t>Auto-activates subscription when payment is completed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2450591"/>
            <a:ext cx="2971800" cy="914400"/>
          </a:xfrm>
          <a:prstGeom prst="rect">
            <a:avLst/>
          </a:prstGeom>
          <a:solidFill>
            <a:srgbClr val="F4FAFB"/>
          </a:solidFill>
          <a:ln>
            <a:solidFill>
              <a:srgbClr val="E0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0" y="2496311"/>
            <a:ext cx="2834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015F6A"/>
                </a:solidFill>
                <a:latin typeface="Consolas"/>
              </a:defRPr>
            </a:pPr>
            <a:r>
              <a:t>trg_progress_update_user_weight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2752343"/>
            <a:ext cx="2834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1">
                <a:solidFill>
                  <a:srgbClr val="F5A623"/>
                </a:solidFill>
                <a:latin typeface="Calibri"/>
              </a:defRPr>
            </a:pPr>
            <a:r>
              <a:t>progress — AFTER INSERT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2953511"/>
            <a:ext cx="2834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4A6572"/>
                </a:solidFill>
                <a:latin typeface="Calibri"/>
              </a:defRPr>
            </a:pPr>
            <a:r>
              <a:t>Syncs user current weight with latest progress record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3547872"/>
            <a:ext cx="2971800" cy="914400"/>
          </a:xfrm>
          <a:prstGeom prst="rect">
            <a:avLst/>
          </a:prstGeom>
          <a:solidFill>
            <a:srgbClr val="F4FAFB"/>
          </a:solidFill>
          <a:ln>
            <a:solidFill>
              <a:srgbClr val="E0F0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3593592"/>
            <a:ext cx="2834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015F6A"/>
                </a:solidFill>
                <a:latin typeface="Consolas"/>
              </a:defRPr>
            </a:pPr>
            <a:r>
              <a:t>trg_daily_logs_one_per_user_date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849624"/>
            <a:ext cx="2834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1">
                <a:solidFill>
                  <a:srgbClr val="F5A623"/>
                </a:solidFill>
                <a:latin typeface="Calibri"/>
              </a:defRPr>
            </a:pPr>
            <a:r>
              <a:t>daily_logs — AFTER INSERT/UPDATE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4050792"/>
            <a:ext cx="283464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4A6572"/>
                </a:solidFill>
                <a:latin typeface="Calibri"/>
              </a:defRPr>
            </a:pPr>
            <a:r>
              <a:t>Enforces one log per user/day with friendly error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15F6A"/>
                </a:solidFill>
                <a:latin typeface="Trebuchet MS"/>
              </a:defRPr>
            </a:pPr>
            <a:r>
              <a:t>User-Defined Functions &amp;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8412480" cy="3657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User-Defined Functions (4)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84124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109728" cy="62179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362456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15F6A"/>
                </a:solidFill>
                <a:latin typeface="Consolas"/>
              </a:defRPr>
            </a:pPr>
            <a:r>
              <a:t>fn_calculate_meal_calories(@meal_id)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362456"/>
            <a:ext cx="2651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2C39A"/>
                </a:solidFill>
                <a:latin typeface="Calibri"/>
              </a:defRPr>
            </a:pPr>
            <a:r>
              <a:t>Returns: DECIMAL(10,2)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8046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A6572"/>
                </a:solidFill>
                <a:latin typeface="Calibri"/>
              </a:defRPr>
            </a:pPr>
            <a:r>
              <a:t>Calories of a meal based on quantity and food nutritional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48255"/>
            <a:ext cx="84124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048255"/>
            <a:ext cx="109728" cy="62179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112263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15F6A"/>
                </a:solidFill>
                <a:latin typeface="Consolas"/>
              </a:defRPr>
            </a:pPr>
            <a:r>
              <a:t>fn_calculate_daily_log_calories(@log_id)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112263"/>
            <a:ext cx="2651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2C39A"/>
                </a:solidFill>
                <a:latin typeface="Calibri"/>
              </a:defRPr>
            </a:pPr>
            <a:r>
              <a:t>Returns: DECIMAL(10,2)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395727"/>
            <a:ext cx="8046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A6572"/>
                </a:solidFill>
                <a:latin typeface="Calibri"/>
              </a:defRPr>
            </a:pPr>
            <a:r>
              <a:t>Total calories of all meals in a daily 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98063"/>
            <a:ext cx="84124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798063"/>
            <a:ext cx="109728" cy="62179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2862071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15F6A"/>
                </a:solidFill>
                <a:latin typeface="Consolas"/>
              </a:defRPr>
            </a:pPr>
            <a:r>
              <a:t>fn_calculate_user_bmi(@user_id)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862071"/>
            <a:ext cx="2651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2C39A"/>
                </a:solidFill>
                <a:latin typeface="Calibri"/>
              </a:defRPr>
            </a:pPr>
            <a:r>
              <a:t>Returns: DECIMAL(10,2)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145535"/>
            <a:ext cx="8046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A6572"/>
                </a:solidFill>
                <a:latin typeface="Calibri"/>
              </a:defRPr>
            </a:pPr>
            <a:r>
              <a:t>User BMI: weight / (height/100)²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47872"/>
            <a:ext cx="84124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547872"/>
            <a:ext cx="109728" cy="62179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61188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15F6A"/>
                </a:solidFill>
                <a:latin typeface="Consolas"/>
              </a:defRPr>
            </a:pPr>
            <a:r>
              <a:t>fn_user_has_active_subscription(@user_id, @date)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611880"/>
            <a:ext cx="2651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2C39A"/>
                </a:solidFill>
                <a:latin typeface="Calibri"/>
              </a:defRPr>
            </a:pPr>
            <a:r>
              <a:t>Returns: BIT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95344"/>
            <a:ext cx="8046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A6572"/>
                </a:solidFill>
                <a:latin typeface="Calibri"/>
              </a:defRPr>
            </a:pPr>
            <a:r>
              <a:t>Returns 1 if user has an active subscription on that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43400"/>
            <a:ext cx="8412480" cy="320040"/>
          </a:xfrm>
          <a:prstGeom prst="rect">
            <a:avLst/>
          </a:prstGeom>
          <a:solidFill>
            <a:srgbClr val="E0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37083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015F6A"/>
                </a:solidFill>
                <a:latin typeface="Calibri"/>
              </a:defRPr>
            </a:pPr>
            <a:r>
              <a:t>8 Views implemented in diet_tracking_system_views.sql for reporting and GUI data binding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15F6A"/>
                </a:solidFill>
                <a:latin typeface="Trebuchet MS"/>
              </a:defRPr>
            </a:pPr>
            <a:r>
              <a:t>C# Windows Forms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269748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697480" cy="3474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2514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Trebuchet MS"/>
              </a:defRPr>
            </a:pPr>
            <a:r>
              <a:t>User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371600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4A6572"/>
                </a:solidFill>
                <a:latin typeface="Calibri"/>
              </a:defRPr>
            </a:pPr>
            <a:r>
              <a:t>Log meals per day, view calorie totals via SP calls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914400"/>
            <a:ext cx="269748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91840" y="914400"/>
            <a:ext cx="2697480" cy="3474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01568" y="969264"/>
            <a:ext cx="2514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Trebuchet MS"/>
              </a:defRPr>
            </a:pPr>
            <a:r>
              <a:t>Diet Plans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371600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4A6572"/>
                </a:solidFill>
                <a:latin typeface="Calibri"/>
              </a:defRPr>
            </a:pPr>
            <a:r>
              <a:t>Browse plans from nutritionists, assign to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269748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914400"/>
            <a:ext cx="2697480" cy="3474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969264"/>
            <a:ext cx="2514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Trebuchet MS"/>
              </a:defRPr>
            </a:pPr>
            <a:r>
              <a:t>Progress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4A6572"/>
                </a:solidFill>
                <a:latin typeface="Calibri"/>
              </a:defRPr>
            </a:pPr>
            <a:r>
              <a:t>Record and visualize weight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269748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743200"/>
            <a:ext cx="2697480" cy="3474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2798064"/>
            <a:ext cx="2514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Trebuchet MS"/>
              </a:defRPr>
            </a:pPr>
            <a:r>
              <a:t>Subscriptions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200400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4A6572"/>
                </a:solidFill>
                <a:latin typeface="Calibri"/>
              </a:defRPr>
            </a:pPr>
            <a:r>
              <a:t>Subscribe to plans, register payments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743200"/>
            <a:ext cx="269748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743200"/>
            <a:ext cx="2697480" cy="3474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01568" y="2798064"/>
            <a:ext cx="2514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Trebuchet MS"/>
              </a:defRPr>
            </a:pPr>
            <a:r>
              <a:t>Admin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3200400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4A6572"/>
                </a:solidFill>
                <a:latin typeface="Calibri"/>
              </a:defRPr>
            </a:pPr>
            <a:r>
              <a:t>Manage foods, nutritionists, subscription plans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743200"/>
            <a:ext cx="269748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0F0F3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2743200"/>
            <a:ext cx="2697480" cy="3474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7648" y="2798064"/>
            <a:ext cx="2514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Trebuchet MS"/>
              </a:defRPr>
            </a:pPr>
            <a:r>
              <a:t>BMI Calculator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200400"/>
            <a:ext cx="2514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4A6572"/>
                </a:solidFill>
                <a:latin typeface="Calibri"/>
              </a:defRPr>
            </a:pPr>
            <a:r>
              <a:t>Live BMI computed via fn_calculate_user_bmi UDF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E0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61772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1">
                <a:solidFill>
                  <a:srgbClr val="015F6A"/>
                </a:solidFill>
                <a:latin typeface="Calibri"/>
              </a:defRPr>
            </a:pPr>
            <a:r>
              <a:t>Connection string location documented in project — easy to update user/password for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5F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-731520"/>
            <a:ext cx="2286000" cy="2286000"/>
          </a:xfrm>
          <a:prstGeom prst="ellipse">
            <a:avLst/>
          </a:prstGeom>
          <a:solidFill>
            <a:srgbClr val="02C39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3474720"/>
            <a:ext cx="2560320" cy="2560320"/>
          </a:xfrm>
          <a:prstGeom prst="ellipse">
            <a:avLst/>
          </a:prstGeom>
          <a:solidFill>
            <a:srgbClr val="02809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Trebuchet MS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02C39A"/>
                </a:solidFill>
                <a:latin typeface="Calibri"/>
              </a:defRPr>
            </a:pPr>
            <a:r>
              <a:t>Diet Tracking System — Application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457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6706" y="1828800"/>
            <a:ext cx="6949440" cy="2743200"/>
          </a:xfrm>
          <a:prstGeom prst="rect">
            <a:avLst/>
          </a:prstGeom>
          <a:solidFill>
            <a:srgbClr val="0A1A20"/>
          </a:solidFill>
          <a:ln>
            <a:solidFill>
              <a:srgbClr val="02C39A"/>
            </a:solidFill>
          </a:ln>
          <a:effectLst>
            <a:outerShdw blurRad="76200" dist="38100" dir="8100000" algn="t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2743200"/>
            <a:ext cx="914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0" i="0">
                <a:solidFill>
                  <a:srgbClr val="02C39A"/>
                </a:solidFill>
                <a:latin typeface="Segoe UI Symbol"/>
              </a:defRPr>
            </a:pPr>
            <a:r>
              <a:rPr dirty="0"/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Trebuchet MS"/>
              </a:defRPr>
            </a:pPr>
            <a:r>
              <a:t>INSERT DEMO VIDEO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4340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7AB8C4"/>
                </a:solidFill>
                <a:latin typeface="Calibri"/>
              </a:defRPr>
            </a:pPr>
            <a:r>
              <a:t>Replace this placeholder with the recorded demonstration video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15F6A"/>
                </a:solidFill>
                <a:latin typeface="Trebuchet MS"/>
              </a:defRPr>
            </a:pPr>
            <a:r>
              <a:t>Delivery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96112"/>
            <a:ext cx="8412480" cy="402336"/>
          </a:xfrm>
          <a:prstGeom prst="rect">
            <a:avLst/>
          </a:prstGeom>
          <a:solidFill>
            <a:srgbClr val="F0FAF8"/>
          </a:solidFill>
          <a:ln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75488" y="969264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941832"/>
            <a:ext cx="2560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4183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PDF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941832"/>
            <a:ext cx="5760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A6572"/>
                </a:solidFill>
                <a:latin typeface="Calibri"/>
              </a:defRPr>
            </a:pPr>
            <a:r>
              <a:t>Requirements, ERD, schema, normalization, DDL, DML, indexes, triggers, SPs, UDFs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53312"/>
            <a:ext cx="8412480" cy="402336"/>
          </a:xfrm>
          <a:prstGeom prst="rect">
            <a:avLst/>
          </a:prstGeom>
          <a:solidFill>
            <a:srgbClr val="F0FAF8"/>
          </a:solidFill>
          <a:ln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75488" y="1426464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399032"/>
            <a:ext cx="2560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39903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SQL DDL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399032"/>
            <a:ext cx="5760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A6572"/>
                </a:solidFill>
                <a:latin typeface="Calibri"/>
              </a:defRPr>
            </a:pPr>
            <a:r>
              <a:t>diet_tracking_system_tables.sql + food_tracking_constrainst.sql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10512"/>
            <a:ext cx="8412480" cy="402336"/>
          </a:xfrm>
          <a:prstGeom prst="rect">
            <a:avLst/>
          </a:prstGeom>
          <a:solidFill>
            <a:srgbClr val="F0FAF8"/>
          </a:solidFill>
          <a:ln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5488" y="1883664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1856232"/>
            <a:ext cx="2560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185623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SQL Insertions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856232"/>
            <a:ext cx="5760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A6572"/>
                </a:solidFill>
                <a:latin typeface="Calibri"/>
              </a:defRPr>
            </a:pPr>
            <a:r>
              <a:t>diet_tracking_system_insertions.sql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67712"/>
            <a:ext cx="8412480" cy="402336"/>
          </a:xfrm>
          <a:prstGeom prst="rect">
            <a:avLst/>
          </a:prstGeom>
          <a:solidFill>
            <a:srgbClr val="F0FAF8"/>
          </a:solidFill>
          <a:ln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75488" y="2340864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2313432"/>
            <a:ext cx="2560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31343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Stored Procedures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313432"/>
            <a:ext cx="5760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A6572"/>
                </a:solidFill>
                <a:latin typeface="Calibri"/>
              </a:defRPr>
            </a:pPr>
            <a:r>
              <a:t>diet_tracking_system_procedures.sql + diet_tracking_system_read_procedures.sql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24912"/>
            <a:ext cx="8412480" cy="402336"/>
          </a:xfrm>
          <a:prstGeom prst="rect">
            <a:avLst/>
          </a:prstGeom>
          <a:solidFill>
            <a:srgbClr val="F0FAF8"/>
          </a:solidFill>
          <a:ln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75488" y="2798064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2770632"/>
            <a:ext cx="2560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277063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UDFs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2770632"/>
            <a:ext cx="5760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A6572"/>
                </a:solidFill>
                <a:latin typeface="Calibri"/>
              </a:defRPr>
            </a:pPr>
            <a:r>
              <a:t>diet_tracking_system_udfs.sql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182112"/>
            <a:ext cx="8412480" cy="402336"/>
          </a:xfrm>
          <a:prstGeom prst="rect">
            <a:avLst/>
          </a:prstGeom>
          <a:solidFill>
            <a:srgbClr val="F0FAF8"/>
          </a:solidFill>
          <a:ln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75488" y="3255264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" y="3227832"/>
            <a:ext cx="2560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22783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Triggers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227832"/>
            <a:ext cx="5760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A6572"/>
                </a:solidFill>
                <a:latin typeface="Calibri"/>
              </a:defRPr>
            </a:pPr>
            <a:r>
              <a:t>diet_tracking_system_triggers.sql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639312"/>
            <a:ext cx="8412480" cy="402336"/>
          </a:xfrm>
          <a:prstGeom prst="rect">
            <a:avLst/>
          </a:prstGeom>
          <a:solidFill>
            <a:srgbClr val="F0FAF8"/>
          </a:solidFill>
          <a:ln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75488" y="3712464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" y="3685032"/>
            <a:ext cx="2560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368503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Views &amp; Indexes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3685032"/>
            <a:ext cx="5760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A6572"/>
                </a:solidFill>
                <a:latin typeface="Calibri"/>
              </a:defRPr>
            </a:pPr>
            <a:r>
              <a:t>diet_tracking_system_views.sql + diet_tracking_system_indexes.sql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096512"/>
            <a:ext cx="8412480" cy="402336"/>
          </a:xfrm>
          <a:prstGeom prst="rect">
            <a:avLst/>
          </a:prstGeom>
          <a:solidFill>
            <a:srgbClr val="F0FAF8"/>
          </a:solidFill>
          <a:ln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75488" y="4169664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" y="4142232"/>
            <a:ext cx="2560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14223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15F6A"/>
                </a:solidFill>
                <a:latin typeface="Calibri"/>
              </a:defRPr>
            </a:pPr>
            <a:r>
              <a:t>C# Application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4142232"/>
            <a:ext cx="5760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A6572"/>
                </a:solidFill>
                <a:latin typeface="Calibri"/>
              </a:defRPr>
            </a:pPr>
            <a:r>
              <a:t>DietTrackerApp — full source with configurable connection strings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553712"/>
            <a:ext cx="8412480" cy="402336"/>
          </a:xfrm>
          <a:prstGeom prst="rect">
            <a:avLst/>
          </a:prstGeom>
          <a:solidFill>
            <a:srgbClr val="FFF8EC"/>
          </a:solidFill>
          <a:ln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75488" y="4626864"/>
            <a:ext cx="256032" cy="25603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5488" y="4599432"/>
            <a:ext cx="2560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" y="459943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5A623"/>
                </a:solidFill>
                <a:latin typeface="Calibri"/>
              </a:defRPr>
            </a:pPr>
            <a:r>
              <a:rPr dirty="0"/>
              <a:t>Demo Video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599432"/>
            <a:ext cx="5760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4A6572"/>
                </a:solidFill>
                <a:latin typeface="Calibri"/>
              </a:defRPr>
            </a:pPr>
            <a:r>
              <a:t>To be recorded — demonstrates all app functionality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5F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0" y="3200400"/>
            <a:ext cx="3200400" cy="3200400"/>
          </a:xfrm>
          <a:prstGeom prst="ellipse">
            <a:avLst/>
          </a:prstGeom>
          <a:solidFill>
            <a:srgbClr val="02C39A">
              <a:alpha val="1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7315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FFFFFF"/>
                </a:solidFill>
                <a:latin typeface="Trebuchet M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02C39A"/>
                </a:solidFill>
                <a:latin typeface="Calibri"/>
              </a:defRPr>
            </a:pPr>
            <a:r>
              <a:t>Diet Tracking System — Bellili &amp; Blaszczyk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834640"/>
            <a:ext cx="457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7AB8C4"/>
                </a:solidFill>
                <a:latin typeface="Calibri"/>
              </a:defRPr>
            </a:pPr>
            <a:r>
              <a:t>Universidade de Aveiro  ·  2025/2026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3192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Trebuchet M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1224</Words>
  <Application>Microsoft Office PowerPoint</Application>
  <PresentationFormat>Pokaz na ekranie (16:9)</PresentationFormat>
  <Paragraphs>233</Paragraphs>
  <Slides>14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Jakub Blaszczyk</cp:lastModifiedBy>
  <cp:revision>2</cp:revision>
  <dcterms:created xsi:type="dcterms:W3CDTF">2013-01-27T09:14:16Z</dcterms:created>
  <dcterms:modified xsi:type="dcterms:W3CDTF">2026-06-02T16:28:09Z</dcterms:modified>
  <cp:category/>
</cp:coreProperties>
</file>